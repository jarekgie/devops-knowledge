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58" r:id="rId5"/>
    <p:sldId id="261" r:id="rId6"/>
    <p:sldId id="259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8C755-EA8C-45A5-B0B5-D7165048CB94}" v="17" dt="2026-04-24T07:14:33.100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3:40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3:40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1:57:58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4604 3040 24522,'-2'120'0,"-3"-1"0,-4 0 0,-4-1 0,-2 0 0,-5-2 0,-3 0 0,-3-2 0,-3-1 0,-4-2 0,-4-2 0,-2-1 0,-4-3 0,-2-2 0,-4-2 0,-3-3 0,-2-3 0,-4-3 0,-2-3 0,-2-3 0,-3-3 0,-3-4 0,-2-3 0,-2-4 0,-2-4 0,-2-3 0,-2-5 0,-2-4 0,-1-3 0,-2-6 0,-1-3 0,-2-5 0,0-4 0,-2-5 0,0-5 0,-1-4 0,0-4 0,-1-6 0,0-4 0,-1-4 0,1-6 0,0-4 0,0-4 0,0-6 0,1-4 0,1-4 0,0-5 0,2-5 0,1-4 0,0-5 0,3-3 0,0-6 0,3-3 0,1-4 0,1-5 0,3-3 0,2-4 0,2-4 0,3-3 0,2-4 0,2-3 0,3-3 0,3-3 0,2-3 0,3-3 0,4-3 0,2-2 0,3-2 0,4-3 0,3-1 0,3-2 0,3-2 0,4-1 0,3-2 0,4 0 0,3-2 0,4 0 0,3-1 0,3 0 0,5-1 0,2 1 0,5 0 0,3 0 0,3 1 0,4 0 0,3 2 0,4 0 0,3 2 0,4 1 0,3 2 0,3 2 0,3 1 0,4 3 0,3 2 0,2 2 0,4 3 0,3 3 0,2 3 0,3 3 0,3 3 0,2 3 0,2 3 0,3 5 0,2 3 0,3 3 0,1 5 0,2 4 0,1 3 0,3 5 0,0 4 0,3 5 0,0 4 0,1 4 0,2 5 0,0 4 0,1 5 0,1 5 0,0 4 0,0 5 0,0 5 0,1 4 0,-1 5 0,0 5 0,-1 4 0,0 5 0,-1 5 0,0 4 0,-2 5 0,0 4 0,-2 4 0,-1 5 0,-2 4 0,-1 5 0,-2 3 0,-2 4 0,-2 5 0,-2 3 0,-2 3 0,-2 5 0,-3 3 0,-3 3 0,-2 3 0,-2 3 0,-4 3 0,-2 3 0,-3 3 0,-4 2 0,-2 2 0,-4 3 0,-2 1 0,-4 2 0,-4 2 0,-3 1 0,-3 2 0,-3 0 0,-5 2 0,-2 0 0,-4 1 0,-4 0 0,-3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1:58:14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14118 1147 24362,'-6'45'0,"-10"0"0,-11 0 0,-11-1 0,-11 0 0,-10 0 0,-11 0 0,-11-1 0,-9 0 0,-12-1 0,-9-1 0,-10-1 0,-9 0 0,-10-1 0,-10-1 0,-8-1 0,-10-1 0,-7-2 0,-10 0 0,-7-2 0,-7 0 0,-9-2 0,-6-2 0,-7-1 0,-6-1 0,-7-2 0,-5-1 0,-5-2 0,-6-1 0,-4-2 0,-4-2 0,-4-1 0,-3-2 0,-3-1 0,-3-3 0,-2-1 0,-1-2 0,-2-1 0,-1-3 0,0-1 0,0-2 0,0-1 0,1-3 0,2-1 0,1-2 0,2-1 0,3-3 0,3-1 0,3-2 0,4-1 0,4-2 0,4-2 0,6-1 0,5-2 0,5-1 0,7-2 0,6-1 0,7-1 0,6-2 0,9-2 0,7 0 0,7-2 0,10 0 0,7-2 0,10-1 0,8-1 0,10-1 0,10-1 0,9 0 0,10-1 0,9-1 0,12-1 0,9 0 0,11-1 0,11 0 0,10 0 0,11 0 0,11-1 0,11 0 0,10 0 0,12 0 0,10 0 0,11 0 0,11 0 0,11 1 0,10 0 0,11 1 0,11 0 0,9 0 0,12 1 0,9 1 0,10 0 0,9 2 0,10 0 0,10 1 0,8 1 0,10 1 0,7 1 0,10 2 0,7 0 0,7 2 0,9 1 0,6 2 0,7 0 0,6 3 0,7 0 0,5 3 0,5 0 0,6 3 0,4 1 0,4 1 0,4 3 0,3 0 0,3 3 0,3 1 0,2 3 0,1 0 0,2 3 0,1 1 0,0 2 0,0 2 0,0 2 0,-1 1 0,-2 3 0,-1 0 0,-2 3 0,-3 1 0,-3 3 0,-3 0 0,-4 3 0,-4 1 0,-4 1 0,-6 3 0,-5 0 0,-5 3 0,-7 0 0,-6 3 0,-7 0 0,-6 2 0,-9 1 0,-7 2 0,-7 0 0,-10 2 0,-7 1 0,-10 1 0,-8 1 0,-10 1 0,-10 0 0,-9 2 0,-10 0 0,-9 1 0,-12 1 0,-9 0 0,-11 0 0,-11 1 0,-10 0 0,-11 1 0,-11 0 0,-11 0 0,-10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1:57:15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1:57:24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28086 562 24575,'37'1'0,"0"2"0,60 13 0,-23-3 0,11 0 0,322 56 0,-7 34 0,-364-88 0,-1 1 0,0 1 0,62 44 0,-62-37 0,2-1 0,67 29 0,-35-22 0,96 56 0,-113-56 0,-2 1 0,84 71 0,-98-67 0,-1 1 0,-1 2 0,-3 1 0,-1 1 0,35 63 0,-42-66 0,2-2 0,1-1 0,2-2 0,1 0 0,1-2 0,2-1 0,1-1 0,46 29 0,-47-33 0,51 49 0,-3 0 0,-40-38 0,-2 3 0,42 52 0,-16-17 0,-39-43 0,-3 0 0,0 1 0,-2 1 0,-1 1 0,-2 1 0,20 56 0,18 28 0,-13-29 0,-20-42 0,-14-32 0,-1 0 0,0 1 0,-1 0 0,-1 0 0,-1 0 0,0 1 0,2 23 0,-6 176 0,-2-91 0,2-102 0,-1 1 0,-1 0 0,-1-1 0,-1 0 0,-1 1 0,-1-2 0,-2 1 0,0-1 0,-1 0 0,-1 0 0,-1-1 0,-1-1 0,0 0 0,-2-1 0,-28 32 0,27-35 0,0 1 0,0 0 0,-2-2 0,0 1 0,0-2 0,-35 22 0,-70 36 0,-35 19 0,-340 168 0,394-197 0,59-33 0,-2-3 0,-73 32 0,56-37 0,-1-2 0,-87 15 0,-133 5 0,147-23 0,-340 23 0,322-34 0,-693 17 0,782-22 0,-291 5 0,243 2 0,-128 24 0,-27 31 0,-115 17 0,-467-20 0,4-50 0,161 12 0,-189 14 0,269 6 0,23-1 0,-346 7 0,350-14 0,422-25 0,-609 18 0,-280-28 0,754 16 0,37-1 0,-408-13 0,-54 1 0,392 13 0,-65 1 0,-543-14 0,438-2 0,-267-28-680,68 0 522,221 27 158,-321-6 0,-681-9 838,1287 9-838,-194-34 0,169 15 0,-6 1 0,-465-38 0,358 37 0,6 0 0,-455-21 0,609 39 0,80 6 0,-108-19 0,-583-96 0,195 34 0,433 59 0,-255-7 0,71 18 0,193 6 0,-454-27 0,351 13 0,-214-9 0,-133-14 0,524 38 0,-104-22 0,39 6 0,88 18 0,-69 3 0,78 3 0,0-2 0,0-1 0,-64-12 0,-209-49 0,-10-2 0,222 45 0,-35-10 0,-115-36 0,213 58 0,-1-2 0,2-1 0,-48-24 0,65 28 0,1-1 0,-1 0 0,2 0 0,-1-2 0,1 0 0,1 0 0,0-1 0,1 0 0,-19-25 0,-4-20 0,3 0 0,2-2 0,3-1 0,2-1 0,-18-77 0,30 84 0,3-1 0,-4-83 0,12-112 0,2 159 0,1-403 0,-1 452 0,1-1 0,2 1 0,2 0 0,2 1 0,2 0 0,1 0 0,34-74 0,-18 58 0,3 1 0,2 2 0,2 1 0,67-75 0,-49 71 0,-23 25 0,35-47 0,-15 12 0,70-71 0,70-50 0,-114 114 0,-35 36 0,1 3 0,1 1 0,2 2 0,2 3 0,0 1 0,76-30 0,58-16 0,375-96 0,-129 55 0,93 25 0,1 40 0,-377 37 0,727-24 0,-160 9 0,-281 6 0,1193-57-750,-1250 49 750,329-11 0,104 41 758,-301 1-766,637 24-898,-323-2 352,-568-20 523,585 14-333,0 37 98,-607-32 1134,690 26-7818,-722-49 7007,364 3 462,-5 27-152,-438-20-436,215 29 1745,-256-20 3977,-51-11-5653,2-2 0,27 4 0,768 31-19,-496-32-514,394 8 398,278 12 160,490-3 582,-1169-27-552,443 53-55,-288-11 0,-92-24-455,160 11 166,291 4 1033,766-34-744,-1545-1 0,-1-2 0,55-13 0,10-2 0,364-47 0,-407 56 0,-38 4 0,67-2 0,-76 9 0,140 3 0,-135 0 0,-1 1 0,0 2 0,34 9 0,-32-6 0,1-2 0,0-2 0,0-1 0,1-2 0,37-2 0,-43 1 0,0 2 0,32 7 0,-30-5 0,55 4 0,246-11-1365,-310 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1:57:15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3765-F39E-80FF-980D-E5C15360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5028A-EB6E-6A7D-3D39-DBC31D9AF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0C4A5-6875-35EF-F6C4-2C723E07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37546-1D2F-91D0-44D9-EE8621DB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5534F-33E2-F5EE-CAB1-D7C663D8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7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D50D-84E2-C28F-B624-93C1A731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530CE-BB6A-9BD0-86BF-3BB6F7E90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651AA-EFBC-2841-2548-257427E0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0FDC1-9FC2-F117-0248-5C23CDA8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E2865-9F4C-2CFC-1D15-B3C392CC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72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FD0B-2602-3498-4835-B65C69D72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8BCC9-58A2-FE75-04EE-133818322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7DD1C-11F4-866F-5CC5-90921798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3622-2BB1-EA86-C1D4-64C24B0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22B8C-EEB3-9855-94A6-60257AD9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32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2C941-CBAA-DD24-23FE-F6FACFD22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A1BE0-42A9-2E11-AC3B-6EE276ECB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B044C-C8A4-3609-7D7B-9878AA363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7F15-17CB-EE20-36EC-5E81826A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93F43-43AE-B85B-1D1A-F7CD68D8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D0C74-706F-800E-3ABB-7501979F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99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7BD0-EDDE-FACE-8217-88FD6B704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E1251-0BD4-950A-B6BF-0F4FA5C33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FA07-2136-2BD2-B8BC-ADFE8FB94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4E62-C00E-3930-001C-E8AA4E091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1784-C39E-5BED-6456-EB7EBAF9A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93121-6A41-A60B-88D1-FCDDA9C4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AFB7C-A2F3-5E2E-D07F-4F64C0C6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A9AF9-B6B8-AE9B-C1E0-9F669621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34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D042-2D2A-EA35-B774-65C83B4F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58473-D1D4-DC6E-FC3B-C8ABF3E8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04AA1-88D2-CA04-2DBB-6D8AF9CD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32F15-8EF2-CD65-1625-1571F064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37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9A84E-A2A3-78F2-8E4B-6E17248F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B8A82-A2D0-B747-F8E8-164DAD69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B0093-5511-87A0-FF6F-A5D31155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20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6655-1C73-D9B1-8788-D4E60AD5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3F5F3-455F-8899-1A24-B9DA3514C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4CA6D-1B91-DB26-8261-B7AF84E2A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759DC-9707-8B26-9E6F-42D2A0C9D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69C66-991D-2216-2065-8BFC7AA6B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8A82F-2811-7488-B866-8F2D01E5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692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92F0-BEB5-B669-C9F5-33CA066A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B15A27-72B3-9F47-DCBA-BDAA2EABE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914B6-88A7-7DAA-580B-6A87D443C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92BB1-0811-BC7B-E6F6-3B554CB8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95B98-8003-BF4C-E3F4-D3BF082B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24D3E-7510-056B-92E5-70A8456E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83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83E7-51DC-5C0B-171E-DE6F7B38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8A917-79D2-4230-F44F-05F3EC33F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9A5A9-2CCA-DF92-60F8-BD3EC876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301D5-4226-BBFD-2D71-46CEAF84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D6D57-8A19-865B-ACD2-A752E9E0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9AF588-3D42-5220-63F6-884E61669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F5C50-85B5-24BB-B43C-B9410E7B4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0A0A8-0B5E-470A-D809-1CCCBA43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7F8E-BC67-62B5-4B0A-60429657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80751-CD21-CC24-9469-B01829C7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840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0DF37-A964-D9F3-1E56-2FFF1C3B1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FFF33-8EBC-51A4-95F6-AC8A1F03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79EE7-FF59-D079-4C85-4BF086682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32509-BD33-43A9-B0C3-AADA13EFD4D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CD6A9-A36C-644F-6D7F-DFA01DE7A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CCB2-52AC-EF36-1386-D124AE5E9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FAF1E-F462-4C4D-B9B2-25085DD95D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8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530-7104-5A36-BB0C-8C1B4A020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BMW AI </a:t>
            </a:r>
            <a:r>
              <a:rPr lang="pl-PL" dirty="0" err="1"/>
              <a:t>taskforce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2122D-A155-206D-E3D6-3468F7580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36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6A15-CC57-7775-C46A-D1A130B8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Current</a:t>
            </a:r>
            <a:r>
              <a:rPr lang="pl-PL" dirty="0"/>
              <a:t> </a:t>
            </a:r>
            <a:r>
              <a:rPr lang="pl-PL" dirty="0" err="1"/>
              <a:t>tech</a:t>
            </a:r>
            <a:r>
              <a:rPr lang="pl-PL" dirty="0"/>
              <a:t> </a:t>
            </a:r>
            <a:r>
              <a:rPr lang="pl-PL" dirty="0" err="1"/>
              <a:t>stack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578178-8863-A0ED-4A19-5C0C5B297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7493"/>
            <a:ext cx="10515600" cy="42476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44B582-C025-87EE-1D31-BD749267606B}"/>
                  </a:ext>
                </a:extLst>
              </p14:cNvPr>
              <p14:cNvContentPartPr/>
              <p14:nvPr/>
            </p14:nvContentPartPr>
            <p14:xfrm>
              <a:off x="3755857" y="209434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44B582-C025-87EE-1D31-BD74926760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9737" y="20882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0760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14C37-EC61-BBB8-F560-85F73F3D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459F10-6EB9-2A1E-36CB-26DB2CA8C943}"/>
                  </a:ext>
                </a:extLst>
              </p14:cNvPr>
              <p14:cNvContentPartPr/>
              <p14:nvPr/>
            </p14:nvContentPartPr>
            <p14:xfrm>
              <a:off x="3755857" y="209434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459F10-6EB9-2A1E-36CB-26DB2CA8C9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9737" y="208822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1">
            <a:extLst>
              <a:ext uri="{FF2B5EF4-FFF2-40B4-BE49-F238E27FC236}">
                <a16:creationId xmlns:a16="http://schemas.microsoft.com/office/drawing/2014/main" id="{14297AF1-A1B5-C516-7FFF-E8442F9DC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774" y="32348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┌───────────────────────────────────────────┐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            AI Assistance Layer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  GAIA | AI4DevOps | GitHub Copilot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└───────────────┬───────────────────────────┘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┌───────────────▼───────────────────────────┐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        Agile &amp; DevOps Toolchain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  Collaborate → Build → Test → Deploy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└───────────────┬───────────────────────────┘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┌───────────────▼───────────────────────────┐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           IT Operations Layer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   ITSM.Next ↔ CMDB / connectIT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└───────────────┬───────────────────────────┘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┌───────────────▼───────────────────────────┐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        Collaboration &amp; Communication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               MS Teams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50037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8BFA5-D705-3C0E-4F0D-4BB4ABD4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A7CF-5FD6-F37F-7336-2D09538C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Development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920B75-EECE-ECFC-B799-808204FA3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068" y="1514126"/>
            <a:ext cx="7680802" cy="50540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DA47AE-9C6F-69C9-360F-05769871A495}"/>
                  </a:ext>
                </a:extLst>
              </p14:cNvPr>
              <p14:cNvContentPartPr/>
              <p14:nvPr/>
            </p14:nvContentPartPr>
            <p14:xfrm>
              <a:off x="1674771" y="2838905"/>
              <a:ext cx="1657440" cy="218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DA47AE-9C6F-69C9-360F-05769871A4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8651" y="2832425"/>
                <a:ext cx="1669680" cy="22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166D3D-9529-1BFF-EC52-9587EB792CF2}"/>
                  </a:ext>
                </a:extLst>
              </p14:cNvPr>
              <p14:cNvContentPartPr/>
              <p14:nvPr/>
            </p14:nvContentPartPr>
            <p14:xfrm>
              <a:off x="1087537" y="1802748"/>
              <a:ext cx="5082840" cy="825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166D3D-9529-1BFF-EC52-9587EB792C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1417" y="1796628"/>
                <a:ext cx="5095080" cy="83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524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F6AD-5EED-FA28-8877-9A90C923C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1E79-7D83-A7FD-8F94-0A05AAA77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Development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D1BF27-52CC-753D-3FE1-E3111F875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518566"/>
              </p:ext>
            </p:extLst>
          </p:nvPr>
        </p:nvGraphicFramePr>
        <p:xfrm>
          <a:off x="1714859" y="1523539"/>
          <a:ext cx="9287840" cy="50885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47973">
                  <a:extLst>
                    <a:ext uri="{9D8B030D-6E8A-4147-A177-3AD203B41FA5}">
                      <a16:colId xmlns:a16="http://schemas.microsoft.com/office/drawing/2014/main" val="568442621"/>
                    </a:ext>
                  </a:extLst>
                </a:gridCol>
                <a:gridCol w="2611227">
                  <a:extLst>
                    <a:ext uri="{9D8B030D-6E8A-4147-A177-3AD203B41FA5}">
                      <a16:colId xmlns:a16="http://schemas.microsoft.com/office/drawing/2014/main" val="1922781113"/>
                    </a:ext>
                  </a:extLst>
                </a:gridCol>
                <a:gridCol w="2564320">
                  <a:extLst>
                    <a:ext uri="{9D8B030D-6E8A-4147-A177-3AD203B41FA5}">
                      <a16:colId xmlns:a16="http://schemas.microsoft.com/office/drawing/2014/main" val="1006754669"/>
                    </a:ext>
                  </a:extLst>
                </a:gridCol>
                <a:gridCol w="2564320">
                  <a:extLst>
                    <a:ext uri="{9D8B030D-6E8A-4147-A177-3AD203B41FA5}">
                      <a16:colId xmlns:a16="http://schemas.microsoft.com/office/drawing/2014/main" val="3429471633"/>
                    </a:ext>
                  </a:extLst>
                </a:gridCol>
              </a:tblGrid>
              <a:tr h="675442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cap="all">
                          <a:solidFill>
                            <a:srgbClr val="000000"/>
                          </a:solidFill>
                          <a:effectLst/>
                        </a:rPr>
                        <a:t>Etap</a:t>
                      </a: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​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cap="all">
                          <a:solidFill>
                            <a:srgbClr val="000000"/>
                          </a:solidFill>
                          <a:effectLst/>
                        </a:rPr>
                        <a:t>Główne cele</a:t>
                      </a: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​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cap="all">
                          <a:solidFill>
                            <a:srgbClr val="000000"/>
                          </a:solidFill>
                          <a:effectLst/>
                        </a:rPr>
                        <a:t>Kluczowe działania</a:t>
                      </a: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​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pl-PL" sz="2000" b="0" i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Narzędzia AI</a:t>
                      </a:r>
                      <a:endParaRPr lang="en-US" sz="2000" b="1" i="0" dirty="0">
                        <a:noFill/>
                        <a:effectLst/>
                      </a:endParaRPr>
                    </a:p>
                  </a:txBody>
                  <a:tcPr marL="87154" marR="87154" marT="43577" marB="43577" anchor="ctr"/>
                </a:tc>
                <a:extLst>
                  <a:ext uri="{0D108BD9-81ED-4DB2-BD59-A6C34878D82A}">
                    <a16:rowId xmlns:a16="http://schemas.microsoft.com/office/drawing/2014/main" val="916818076"/>
                  </a:ext>
                </a:extLst>
              </a:tr>
              <a:tr h="698139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Plan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Określenie kierunku i zakresu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Organizacja pracy</a:t>
                      </a:r>
                      <a:endParaRPr lang="pl-PL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pl-PL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extLst>
                  <a:ext uri="{0D108BD9-81ED-4DB2-BD59-A6C34878D82A}">
                    <a16:rowId xmlns:a16="http://schemas.microsoft.com/office/drawing/2014/main" val="2509199699"/>
                  </a:ext>
                </a:extLst>
              </a:tr>
              <a:tr h="59555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Prepare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Przygotowanie do implementacji​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600" b="0" dirty="0" err="1">
                          <a:solidFill>
                            <a:srgbClr val="000000"/>
                          </a:solidFill>
                          <a:effectLst/>
                        </a:rPr>
                        <a:t>Refinement</a:t>
                      </a: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, architektura, środowiska, plan testów​</a:t>
                      </a:r>
                      <a:endParaRPr lang="pl-PL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pl-PL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extLst>
                  <a:ext uri="{0D108BD9-81ED-4DB2-BD59-A6C34878D82A}">
                    <a16:rowId xmlns:a16="http://schemas.microsoft.com/office/drawing/2014/main" val="579916399"/>
                  </a:ext>
                </a:extLst>
              </a:tr>
              <a:tr h="59555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Create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Wytworzenie funkcjonalności​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Kodowanie, testy </a:t>
                      </a:r>
                      <a:r>
                        <a:rPr lang="pl-PL" sz="1600" b="0" dirty="0" err="1">
                          <a:solidFill>
                            <a:srgbClr val="000000"/>
                          </a:solidFill>
                          <a:effectLst/>
                        </a:rPr>
                        <a:t>unitowe</a:t>
                      </a: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pl-PL" sz="1600" b="0" dirty="0" err="1">
                          <a:solidFill>
                            <a:srgbClr val="000000"/>
                          </a:solidFill>
                          <a:effectLst/>
                        </a:rPr>
                        <a:t>code</a:t>
                      </a: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pl-PL" sz="1600" b="0" dirty="0" err="1">
                          <a:solidFill>
                            <a:srgbClr val="000000"/>
                          </a:solidFill>
                          <a:effectLst/>
                        </a:rPr>
                        <a:t>review</a:t>
                      </a: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, iteracje​</a:t>
                      </a:r>
                      <a:endParaRPr lang="pl-PL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pl-PL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extLst>
                  <a:ext uri="{0D108BD9-81ED-4DB2-BD59-A6C34878D82A}">
                    <a16:rowId xmlns:a16="http://schemas.microsoft.com/office/drawing/2014/main" val="471712761"/>
                  </a:ext>
                </a:extLst>
              </a:tr>
              <a:tr h="59555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Build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Złożenie produktu​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Kompilacja, CI, integracja, artefakt </a:t>
                      </a:r>
                      <a:r>
                        <a:rPr lang="pl-PL" sz="1600" b="0" dirty="0" err="1">
                          <a:solidFill>
                            <a:srgbClr val="000000"/>
                          </a:solidFill>
                          <a:effectLst/>
                        </a:rPr>
                        <a:t>builda</a:t>
                      </a: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pl-PL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pl-PL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extLst>
                  <a:ext uri="{0D108BD9-81ED-4DB2-BD59-A6C34878D82A}">
                    <a16:rowId xmlns:a16="http://schemas.microsoft.com/office/drawing/2014/main" val="231830857"/>
                  </a:ext>
                </a:extLst>
              </a:tr>
              <a:tr h="59555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800" b="1" i="0" dirty="0">
                          <a:solidFill>
                            <a:srgbClr val="000000"/>
                          </a:solidFill>
                          <a:effectLst/>
                        </a:rPr>
                        <a:t>Test</a:t>
                      </a:r>
                      <a:endParaRPr lang="en-US" sz="20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800" b="0" i="0" dirty="0">
                          <a:solidFill>
                            <a:srgbClr val="000000"/>
                          </a:solidFill>
                          <a:effectLst/>
                        </a:rPr>
                        <a:t>Sprawdzenie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600" b="0" i="0" dirty="0">
                          <a:solidFill>
                            <a:srgbClr val="000000"/>
                          </a:solidFill>
                          <a:effectLst/>
                        </a:rPr>
                        <a:t>Testy </a:t>
                      </a:r>
                      <a:r>
                        <a:rPr lang="pl-PL" sz="1600" b="0" i="0" dirty="0" err="1">
                          <a:solidFill>
                            <a:srgbClr val="000000"/>
                          </a:solidFill>
                          <a:effectLst/>
                        </a:rPr>
                        <a:t>intergracyjne</a:t>
                      </a:r>
                      <a:r>
                        <a:rPr lang="pl-PL" sz="1600" b="0" i="0" dirty="0">
                          <a:solidFill>
                            <a:srgbClr val="000000"/>
                          </a:solidFill>
                          <a:effectLst/>
                        </a:rPr>
                        <a:t>/regresyjne, UAT</a:t>
                      </a: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pl-PL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extLst>
                  <a:ext uri="{0D108BD9-81ED-4DB2-BD59-A6C34878D82A}">
                    <a16:rowId xmlns:a16="http://schemas.microsoft.com/office/drawing/2014/main" val="2165533149"/>
                  </a:ext>
                </a:extLst>
              </a:tr>
              <a:tr h="59555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Release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Formalne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</a:rPr>
                        <a:t>wydanie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600" b="0" dirty="0">
                          <a:solidFill>
                            <a:srgbClr val="000000"/>
                          </a:solidFill>
                          <a:effectLst/>
                        </a:rPr>
                        <a:t>R</a:t>
                      </a:r>
                      <a:r>
                        <a:rPr lang="en-GB" sz="1600" b="0" dirty="0" err="1">
                          <a:solidFill>
                            <a:srgbClr val="000000"/>
                          </a:solidFill>
                          <a:effectLst/>
                        </a:rPr>
                        <a:t>elease</a:t>
                      </a:r>
                      <a:r>
                        <a:rPr lang="en-GB" sz="1600" b="0" dirty="0">
                          <a:solidFill>
                            <a:srgbClr val="000000"/>
                          </a:solidFill>
                          <a:effectLst/>
                        </a:rPr>
                        <a:t> notes, </a:t>
                      </a:r>
                      <a:r>
                        <a:rPr lang="en-GB" sz="1600" b="0" dirty="0" err="1">
                          <a:solidFill>
                            <a:srgbClr val="000000"/>
                          </a:solidFill>
                          <a:effectLst/>
                        </a:rPr>
                        <a:t>akceptacja</a:t>
                      </a:r>
                      <a:r>
                        <a:rPr lang="en-GB" sz="16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GB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GB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extLst>
                  <a:ext uri="{0D108BD9-81ED-4DB2-BD59-A6C34878D82A}">
                    <a16:rowId xmlns:a16="http://schemas.microsoft.com/office/drawing/2014/main" val="3152706467"/>
                  </a:ext>
                </a:extLst>
              </a:tr>
              <a:tr h="59555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Deploy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Udostępnienie użytkownikom​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</a:rPr>
                        <a:t>Wdrożenie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</a:rPr>
                        <a:t>konfiguracja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, monitoring, rollback​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7154" marR="87154" marT="43577" marB="43577" anchor="ctr"/>
                </a:tc>
                <a:extLst>
                  <a:ext uri="{0D108BD9-81ED-4DB2-BD59-A6C34878D82A}">
                    <a16:rowId xmlns:a16="http://schemas.microsoft.com/office/drawing/2014/main" val="326194992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22CF8779-B908-FC0A-9232-640E16A3A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859" y="16906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517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C573F-AD06-A42B-DB87-D3081772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08A9-BECD-1AFE-AA5E-96ABA589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Operations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BD826D-BAF1-4022-10BD-FDEC5F4CE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943" y="1537399"/>
            <a:ext cx="11417984" cy="33159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B06A4CC-5AB3-31F3-8477-95F1C5565CEE}"/>
                  </a:ext>
                </a:extLst>
              </p14:cNvPr>
              <p14:cNvContentPartPr/>
              <p14:nvPr/>
            </p14:nvContentPartPr>
            <p14:xfrm>
              <a:off x="8510451" y="964385"/>
              <a:ext cx="21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B06A4CC-5AB3-31F3-8477-95F1C5565C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04331" y="958265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80CA691-569F-DDBB-C42D-E08C0B34ABB1}"/>
                  </a:ext>
                </a:extLst>
              </p14:cNvPr>
              <p14:cNvContentPartPr/>
              <p14:nvPr/>
            </p14:nvContentPartPr>
            <p14:xfrm>
              <a:off x="530331" y="1586465"/>
              <a:ext cx="11287080" cy="1860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80CA691-569F-DDBB-C42D-E08C0B34AB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4211" y="1580345"/>
                <a:ext cx="11299320" cy="187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15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860F3-3D6F-46D8-26DD-6E303CC6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63C668-E541-78C0-D3A0-DF733CA79FF5}"/>
                  </a:ext>
                </a:extLst>
              </p14:cNvPr>
              <p14:cNvContentPartPr/>
              <p14:nvPr/>
            </p14:nvContentPartPr>
            <p14:xfrm>
              <a:off x="8510451" y="964385"/>
              <a:ext cx="21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63C668-E541-78C0-D3A0-DF733CA79F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4331" y="958265"/>
                <a:ext cx="1440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E2E82E-7444-3D70-F17D-D629EC2E0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65752"/>
              </p:ext>
            </p:extLst>
          </p:nvPr>
        </p:nvGraphicFramePr>
        <p:xfrm>
          <a:off x="593366" y="248538"/>
          <a:ext cx="10762891" cy="660946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928283">
                  <a:extLst>
                    <a:ext uri="{9D8B030D-6E8A-4147-A177-3AD203B41FA5}">
                      <a16:colId xmlns:a16="http://schemas.microsoft.com/office/drawing/2014/main" val="4221843032"/>
                    </a:ext>
                  </a:extLst>
                </a:gridCol>
                <a:gridCol w="6226170">
                  <a:extLst>
                    <a:ext uri="{9D8B030D-6E8A-4147-A177-3AD203B41FA5}">
                      <a16:colId xmlns:a16="http://schemas.microsoft.com/office/drawing/2014/main" val="2611921866"/>
                    </a:ext>
                  </a:extLst>
                </a:gridCol>
                <a:gridCol w="3608438">
                  <a:extLst>
                    <a:ext uri="{9D8B030D-6E8A-4147-A177-3AD203B41FA5}">
                      <a16:colId xmlns:a16="http://schemas.microsoft.com/office/drawing/2014/main" val="2053307354"/>
                    </a:ext>
                  </a:extLst>
                </a:gridCol>
              </a:tblGrid>
              <a:tr h="115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Obszar (ITSM)</a:t>
                      </a:r>
                      <a:endParaRPr lang="en-GB" sz="105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Co obejmuje (skrótowo)</a:t>
                      </a:r>
                      <a:endParaRPr lang="en-GB" sz="105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5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</a:rPr>
                        <a:t>Narzędzia AI</a:t>
                      </a:r>
                      <a:endParaRPr lang="en-GB" sz="1050" b="1" i="0" u="none" strike="noStrike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413623633"/>
                  </a:ext>
                </a:extLst>
              </a:tr>
              <a:tr h="349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Incidents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 dirty="0">
                          <a:effectLst/>
                        </a:rPr>
                      </a:br>
                      <a:r>
                        <a:rPr lang="pl-PL" sz="1050" u="none" strike="noStrike" dirty="0">
                          <a:effectLst/>
                        </a:rPr>
                        <a:t>• Obsługa awarii i przerw w działaniu</a:t>
                      </a:r>
                      <a:br>
                        <a:rPr lang="pl-PL" sz="1050" u="none" strike="noStrike" dirty="0">
                          <a:effectLst/>
                        </a:rPr>
                      </a:br>
                      <a:r>
                        <a:rPr lang="pl-PL" sz="1050" u="none" strike="noStrike" dirty="0">
                          <a:effectLst/>
                        </a:rPr>
                        <a:t>• Przywracanie usług (</a:t>
                      </a:r>
                      <a:r>
                        <a:rPr lang="pl-PL" sz="1050" u="none" strike="noStrike" dirty="0" err="1">
                          <a:effectLst/>
                        </a:rPr>
                        <a:t>restore</a:t>
                      </a:r>
                      <a:r>
                        <a:rPr lang="pl-PL" sz="1050" u="none" strike="noStrike" dirty="0">
                          <a:effectLst/>
                        </a:rPr>
                        <a:t>), </a:t>
                      </a:r>
                      <a:r>
                        <a:rPr lang="pl-PL" sz="1050" u="none" strike="noStrike" dirty="0" err="1">
                          <a:effectLst/>
                        </a:rPr>
                        <a:t>workaroundy</a:t>
                      </a:r>
                      <a:br>
                        <a:rPr lang="pl-PL" sz="1050" u="none" strike="noStrike" dirty="0">
                          <a:effectLst/>
                        </a:rPr>
                      </a:br>
                      <a:r>
                        <a:rPr lang="pl-PL" sz="1050" u="none" strike="noStrike" dirty="0">
                          <a:effectLst/>
                        </a:rPr>
                        <a:t>• Koordynacja on‑</a:t>
                      </a:r>
                      <a:r>
                        <a:rPr lang="pl-PL" sz="1050" u="none" strike="noStrike" dirty="0" err="1">
                          <a:effectLst/>
                        </a:rPr>
                        <a:t>call</a:t>
                      </a:r>
                      <a:r>
                        <a:rPr lang="pl-PL" sz="1050" u="none" strike="noStrike" dirty="0">
                          <a:effectLst/>
                        </a:rPr>
                        <a:t> / war </a:t>
                      </a:r>
                      <a:r>
                        <a:rPr lang="pl-PL" sz="1050" u="none" strike="noStrike" dirty="0" err="1">
                          <a:effectLst/>
                        </a:rPr>
                        <a:t>room</a:t>
                      </a:r>
                      <a:r>
                        <a:rPr lang="pl-PL" sz="1050" u="none" strike="noStrike" dirty="0">
                          <a:effectLst/>
                        </a:rPr>
                        <a:t>• Komunikacja statusowa z interesariuszami</a:t>
                      </a:r>
                      <a:endParaRPr lang="pl-PL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2500848816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Service Requests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Zgłoszenia użytkowników (dostępy, pytania, konfiguracje)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Realizacja standardowych requestów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Wsparcie operacyjne bez presji czasu• Kontakt i wyjaśnienia dla biznesu</a:t>
                      </a: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167143754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Problems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Analiza przyczyn źródłowych (RCA)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Trendy i powtarzalność incydentów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Definicja działań zapobiegawczych (bez implementacji)• Dokumentowanie wniosków</a:t>
                      </a: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3530292110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Enable Changes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Obsługa zmian operacyjnych (non‑dev)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Impact analysis i ocena ryzyka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Koordynacja CAB i wdrożeń konfiguracyjnych• Komunikacja i okna wdrożeniowe</a:t>
                      </a: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3244300120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Events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Obsługa alertów i monitoringu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Kwalifikacja zdarzeń (signal vs noise)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Reakcja na alerty pre‑incidentowe• Utrzymanie progów i reguł alertowych</a:t>
                      </a: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4031008864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Service Configuration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Zarządzanie konfiguracją usług i środowisk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Zależności aplikacji i integracje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Wsparcie impact analysis do zmian i incydentów• Utrzymanie wiedzy o „jak system jest skonfigurowany”</a:t>
                      </a: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1784696689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Availability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Monitorowanie dostępności i SLA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Analiza niedostępności i degradacji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Działania zapobiegawcze (non‑code)• Raportowanie dostępności</a:t>
                      </a: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1617094727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Capacity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Analiza wykorzystania zasobów (CPU, memory, throughput)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Prognozowanie obciążeń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Wsparcie decyzji skalowania (bez implementacji)• Zapobieganie degradacji wydajności</a:t>
                      </a: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110781579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IT Service Continuity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Gotowość do sytuacji kryzysowych (DR)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Wsparcie planów ciągłości działania</a:t>
                      </a:r>
                      <a:br>
                        <a:rPr lang="pl-PL" sz="1050" u="none" strike="noStrike">
                          <a:effectLst/>
                        </a:rPr>
                      </a:br>
                      <a:r>
                        <a:rPr lang="pl-PL" sz="1050" u="none" strike="noStrike">
                          <a:effectLst/>
                        </a:rPr>
                        <a:t>• Testy operacyjne i przeglądy scenariuszy• Analiza ryzyk ciągłości usług</a:t>
                      </a: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2657899451"/>
                  </a:ext>
                </a:extLst>
              </a:tr>
              <a:tr h="4626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Manage Knowledge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br>
                        <a:rPr lang="pl-PL" sz="1050" u="none" strike="noStrike" dirty="0">
                          <a:effectLst/>
                        </a:rPr>
                      </a:br>
                      <a:r>
                        <a:rPr lang="pl-PL" sz="1050" u="none" strike="noStrike" dirty="0">
                          <a:effectLst/>
                        </a:rPr>
                        <a:t>• </a:t>
                      </a:r>
                      <a:r>
                        <a:rPr lang="pl-PL" sz="1050" u="none" strike="noStrike" dirty="0" err="1">
                          <a:effectLst/>
                        </a:rPr>
                        <a:t>Runbooki</a:t>
                      </a:r>
                      <a:r>
                        <a:rPr lang="pl-PL" sz="1050" u="none" strike="noStrike" dirty="0">
                          <a:effectLst/>
                        </a:rPr>
                        <a:t> i instrukcje operacyjne</a:t>
                      </a:r>
                      <a:br>
                        <a:rPr lang="pl-PL" sz="1050" u="none" strike="noStrike" dirty="0">
                          <a:effectLst/>
                        </a:rPr>
                      </a:br>
                      <a:r>
                        <a:rPr lang="pl-PL" sz="1050" u="none" strike="noStrike" dirty="0">
                          <a:effectLst/>
                        </a:rPr>
                        <a:t>• Baza wiedzy (KB)</a:t>
                      </a:r>
                      <a:br>
                        <a:rPr lang="pl-PL" sz="1050" u="none" strike="noStrike" dirty="0">
                          <a:effectLst/>
                        </a:rPr>
                      </a:br>
                      <a:r>
                        <a:rPr lang="pl-PL" sz="1050" u="none" strike="noStrike" dirty="0">
                          <a:effectLst/>
                        </a:rPr>
                        <a:t>• Dokumentacja znanych problemów i </a:t>
                      </a:r>
                      <a:r>
                        <a:rPr lang="pl-PL" sz="1050" u="none" strike="noStrike" dirty="0" err="1">
                          <a:effectLst/>
                        </a:rPr>
                        <a:t>workaroundów</a:t>
                      </a:r>
                      <a:r>
                        <a:rPr lang="pl-PL" sz="1050" u="none" strike="noStrike" dirty="0">
                          <a:effectLst/>
                        </a:rPr>
                        <a:t>• Transfer wiedzy i ustandaryzowanie działań</a:t>
                      </a:r>
                      <a:endParaRPr lang="pl-PL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22" marR="4422" marT="4422" marB="0" anchor="b"/>
                </a:tc>
                <a:extLst>
                  <a:ext uri="{0D108BD9-81ED-4DB2-BD59-A6C34878D82A}">
                    <a16:rowId xmlns:a16="http://schemas.microsoft.com/office/drawing/2014/main" val="3412438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899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1928-9560-03C4-07F3-1B6B8636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Ciekawostki, inspiracje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53527B-7142-1F22-ECE0-48CE09CD7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704" y="2015054"/>
            <a:ext cx="8354591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60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A0D3C2-AD54-9619-BAF7-2B8781856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573" y="2015054"/>
            <a:ext cx="7906853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0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485</Words>
  <Application>Microsoft Office PowerPoint</Application>
  <PresentationFormat>Panoramiczny</PresentationFormat>
  <Paragraphs>74</Paragraphs>
  <Slides>9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0" baseType="lpstr">
      <vt:lpstr>Office Theme</vt:lpstr>
      <vt:lpstr>BMW AI taskforce</vt:lpstr>
      <vt:lpstr>Current tech stack</vt:lpstr>
      <vt:lpstr>Prezentacja programu PowerPoint</vt:lpstr>
      <vt:lpstr>Development</vt:lpstr>
      <vt:lpstr>Development</vt:lpstr>
      <vt:lpstr>Operations</vt:lpstr>
      <vt:lpstr>Prezentacja programu PowerPoint</vt:lpstr>
      <vt:lpstr>Ciekawostki, inspiracje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Przemysław Jawniuk</dc:creator>
  <cp:lastModifiedBy>Przemysław Jawniuk</cp:lastModifiedBy>
  <cp:revision>2</cp:revision>
  <dcterms:created xsi:type="dcterms:W3CDTF">2026-04-23T11:47:36Z</dcterms:created>
  <dcterms:modified xsi:type="dcterms:W3CDTF">2026-04-24T09:25:26Z</dcterms:modified>
</cp:coreProperties>
</file>